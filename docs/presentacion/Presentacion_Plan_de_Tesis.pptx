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7" r:id="rId17"/>
    <p:sldId id="260" r:id="rId10"/>
    <p:sldId id="261" r:id="rId11"/>
    <p:sldId id="275" r:id="rId29"/>
    <p:sldId id="276" r:id="rId30"/>
    <p:sldId id="262" r:id="rId12"/>
    <p:sldId id="266" r:id="rId16"/>
    <p:sldId id="263" r:id="rId13"/>
    <p:sldId id="272" r:id="rId25"/>
    <p:sldId id="264" r:id="rId14"/>
    <p:sldId id="271" r:id="rId24"/>
    <p:sldId id="277" r:id="rId31"/>
    <p:sldId id="274" r:id="rId28"/>
    <p:sldId id="265" r:id="rId15"/>
    <p:sldId id="278" r:id="rId32"/>
    <p:sldId id="273" r:id="rId26"/>
    <p:sldId id="270" r:id="rId23"/>
    <p:sldId id="269" r:id="rId19"/>
  </p:sldIdLst>
  <p:sldSz cx="18288000" cy="10287000"/>
  <p:notesSz cx="6858000" cy="9144000"/>
  <p:embeddedFontLst>
    <p:embeddedFont>
      <p:font typeface="Roboto Bold" charset="1" panose="02000000000000000000"/>
      <p:regular r:id="rId20"/>
    </p:embeddedFont>
    <p:embeddedFont>
      <p:font typeface="Inter" charset="1" panose="020B0502030000000004"/>
      <p:regular r:id="rId21"/>
    </p:embeddedFont>
    <p:embeddedFont>
      <p:font typeface="Inter Bold" charset="1" panose="020B08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9.xml"/><Relationship Id="rId17" Type="http://schemas.openxmlformats.org/officeDocument/2006/relationships/slide" Target="slides/slide5.xml"/><Relationship Id="rId19" Type="http://schemas.openxmlformats.org/officeDocument/2006/relationships/slide" Target="slides/slide18.xml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slide" Target="slides/slide16.xml"/><Relationship Id="rId24" Type="http://schemas.openxmlformats.org/officeDocument/2006/relationships/slide" Target="slides/slide13.xml"/><Relationship Id="rId25" Type="http://schemas.openxmlformats.org/officeDocument/2006/relationships/slide" Target="slides/slide11.xml"/><Relationship Id="rId26" Type="http://schemas.openxmlformats.org/officeDocument/2006/relationships/slide" Target="slides/slide15.xml"/><Relationship Id="rId27" Type="http://schemas.openxmlformats.org/officeDocument/2006/relationships/notesMaster" Target="notesMasters/notesMaster1.xml"/>  <Relationship Id="rId28" Type="http://schemas.openxmlformats.org/officeDocument/2006/relationships/slide" Target="slides/slide19.xml"/>
  <Relationship Id="rId29" Type="http://schemas.openxmlformats.org/officeDocument/2006/relationships/slide" Target="slides/slide20.xml"/>
  <Relationship Id="rId30" Type="http://schemas.openxmlformats.org/officeDocument/2006/relationships/slide" Target="slides/slide21.xml"/>
  <Relationship Id="rId31" Type="http://schemas.openxmlformats.org/officeDocument/2006/relationships/slide" Target="slides/slide22.xml"/>
  <Relationship Id="rId32" Type="http://schemas.openxmlformats.org/officeDocument/2006/relationships/slide" Target="slides/slide23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400" b="1">
                <a:solidFill>
                  <a:srgbClr val="2E58A6"/>
                </a:solidFill>
                <a:latin typeface="Inter"/>
              </a:rPr>
              <a:t>Hostigamiento sexual en la UNSAAC (2019)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 UNSAAC (%)</c:v>
                </c:pt>
              </c:strCache>
            </c:strRef>
          </c:tx>
          <c:spPr>
            <a:solidFill>
              <a:srgbClr val="2E58A6"/>
            </a:solidFill>
          </c:spPr>
          <c:cat>
            <c:strRef>
              <c:f>Sheet1!$A$2:$A$4</c:f>
              <c:strCache>
                <c:ptCount val="3"/>
                <c:pt idx="0">
                  <c:v>Experimentó hostigamiento</c:v>
                </c:pt>
                <c:pt idx="1">
                  <c:v>Hostigamiento virtual</c:v>
                </c:pt>
                <c:pt idx="2">
                  <c:v>Lo denunció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77.5</c:v>
                </c:pt>
                <c:pt idx="1">
                  <c:v>17.2</c:v>
                </c:pt>
                <c:pt idx="2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200" b="1">
                  <a:solidFill>
                    <a:srgbClr val="000000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2000">
                <a:solidFill>
                  <a:srgbClr val="555555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400" b="1">
                <a:solidFill>
                  <a:srgbClr val="2E58A6"/>
                </a:solidFill>
                <a:latin typeface="Inter"/>
              </a:rPr>
              <a:t>Presupuesto estimado (S/)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Soles</c:v>
                </c:pt>
              </c:strCache>
            </c:strRef>
          </c:tx>
          <c:spPr>
            <a:solidFill>
              <a:srgbClr val="2E58A6"/>
            </a:solidFill>
          </c:spPr>
          <c:cat>
            <c:strRef>
              <c:f>Sheet1!$A$2:$A$7</c:f>
              <c:strCache>
                <c:ptCount val="6"/>
                <c:pt idx="0">
                  <c:v>Anotación</c:v>
                </c:pt>
                <c:pt idx="1">
                  <c:v>Cómputo GPU</c:v>
                </c:pt>
                <c:pt idx="2">
                  <c:v>Conectividad</c:v>
                </c:pt>
                <c:pt idx="3">
                  <c:v>Trámites</c:v>
                </c:pt>
                <c:pt idx="4">
                  <c:v>Imprevistos</c:v>
                </c:pt>
                <c:pt idx="5">
                  <c:v>Difusión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</c:v>
                </c:pt>
                <c:pt idx="1">
                  <c:v>400</c:v>
                </c:pt>
                <c:pt idx="2">
                  <c:v>360</c:v>
                </c:pt>
                <c:pt idx="3">
                  <c:v>200</c:v>
                </c:pt>
                <c:pt idx="4">
                  <c:v>198</c:v>
                </c:pt>
                <c:pt idx="5">
                  <c:v>120</c:v>
                </c:pt>
              </c:numCache>
            </c:numRef>
          </c:val>
        </c:ser>
        <c:dLbls>
          <c:numFmt formatCode="&quot;S/ &quot;#,##0" sourceLinked="0"/>
          <c:txPr>
            <a:bodyPr/>
            <a:lstStyle/>
            <a:p>
              <a:pPr>
                <a:defRPr sz="2200" b="1">
                  <a:solidFill>
                    <a:srgbClr val="000000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2000">
                <a:solidFill>
                  <a:srgbClr val="555555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Presento mi plan de tesis. El título tiene tres partes: en azul el proceso (desarrollo de), en amarillo la tecnología (un modelo de aprendizaje automático) y en rojo el contexto (la detección de acoso sexual en relatos de estudiantes de la UNSAAC).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una frase: quiero construir un modelo que lea un relato y diga si describe acoso sexual. El aporte es el modelo validado con datos locales y el prototipo que lo pone al servicio de quien revisa los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qué no basta buscar palabras clave y por qué el aprendizaje automático es la herramienta adecuada.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 local: 151 estudiantes, muestra no probabilística. Lo uso como evidencia de contexto, no como prevalencia de toda la universidad. Fuente: Gutiérrez de Alarcón et al. (2022).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Árbol de problemas resumido. Efectos: se usan cifras de otros contextos y no hay una herramienta de apoyo para la revisión de relatos.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Antecedentes internacionales: muestran que la tarea es viable, pero con otros idiomas y fenómenos. Wijaya parece aplicar SMOTE antes de separar la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brecha y el aporte no van como secciones aparte en el plan; están dentro de la justificación y del planteamiento del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Título, problema, objetivo e hipótesis usan las mismas tres partes con los mismos colores. El objetivo general incluye cómo se evaluará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problema específico corresponde a una fase: construir el corpus, entrenar, validar e implementar el prototipo.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objetivo general tiene verbo, objeto, tecnología, finalidad y criterio de evaluación. Cada objetivo específico corresponde a una etapa del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además cuatro hipótesis específicas: kappa al menos 0,61; el tratamiento del desbalance mejora la exhaustividad; el modelo supera a la línea base léxica incluso sin palabras explícitas; y el prototipo reproduce las predicciones del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Variables de control: calidad del corpus, particiones y semillas comunes, y reproducibilidad.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nivel explicativo coincide con el objetivo: desarrollar el modelo y comprobar que supera a la línea base. Las medidas repetidas permiten la prueba pareada de McNemar.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etapa corresponde a un objetivo específico y aplica las fórmulas del marco teórico.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cronograma y el presupuesto completos están en el capítulo 1 del plan. Total: S/ 2178, con recursos propios.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8129" y="-2195789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2011680" y="2377440"/>
            <a:ext cx="13350240" cy="27432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50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 xml:space="preserve">Desarrollo de </a:t>
            </a:r>
            <a:r>
              <a:rPr lang="en-US" sz="5000" b="true">
                <a:solidFill>
                  <a:srgbClr val="CC9900"/>
                </a:solidFill>
                <a:latin typeface="Roboto Bold"/>
                <a:ea typeface="Roboto Bold"/>
                <a:cs typeface="Roboto Bold"/>
                <a:sym typeface="Roboto Bold"/>
              </a:rPr>
              <a:t xml:space="preserve">un modelo de aprendizaje automático </a:t>
            </a:r>
            <a:r>
              <a:rPr lang="en-US" sz="5000" b="true">
                <a:solidFill>
                  <a:srgbClr val="C00000"/>
                </a:solidFill>
                <a:latin typeface="Roboto Bold"/>
                <a:ea typeface="Roboto Bold"/>
                <a:cs typeface="Roboto Bold"/>
                <a:sym typeface="Roboto Bold"/>
              </a:rPr>
              <a:t>para la detección de acoso sexual en relatos de estudiantes de la UNSAAC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8623094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>
            <a:off x="1028700" y="1413173"/>
            <a:ext cx="12844365" cy="6611874"/>
          </a:xfrm>
          <a:custGeom>
            <a:avLst/>
            <a:gdLst/>
            <a:ahLst/>
            <a:cxnLst/>
            <a:rect r="r" b="b" t="t" l="l"/>
            <a:pathLst>
              <a:path h="6611874" w="12844365">
                <a:moveTo>
                  <a:pt x="0" y="6611874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28443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>
            <a:off x="4414935" y="2459563"/>
            <a:ext cx="12844365" cy="6519963"/>
          </a:xfrm>
          <a:custGeom>
            <a:avLst/>
            <a:gdLst/>
            <a:ahLst/>
            <a:cxnLst/>
            <a:rect r="r" b="b" t="t" l="l"/>
            <a:pathLst>
              <a:path h="6519963" w="12844365">
                <a:moveTo>
                  <a:pt x="0" y="6519963"/>
                </a:moveTo>
                <a:lnTo>
                  <a:pt x="12615765" y="6519963"/>
                </a:lnTo>
                <a:cubicBezTo>
                  <a:pt x="12742018" y="6519963"/>
                  <a:pt x="12844365" y="6417615"/>
                  <a:pt x="12844365" y="6291363"/>
                </a:cubicBezTo>
                <a:lnTo>
                  <a:pt x="128443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743200" y="5897880"/>
            <a:ext cx="11887200" cy="12801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Plan de tesis · 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Pamela Diaz Misme</a:t>
            </a:r>
          </a:p>
          <a:p>
            <a:pPr algn="ctr">
              <a:lnSpc>
                <a:spcPct val="110000"/>
              </a:lnSpc>
            </a:pPr>
            <a:r>
              <a:rPr lang="en-US" sz="3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Asesor: 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Dr. Rony Villafuerte Serna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>
            <a:off x="1004150" y="2031417"/>
            <a:ext cx="16255150" cy="1680024"/>
          </a:xfrm>
          <a:custGeom>
            <a:avLst/>
            <a:gdLst/>
            <a:ahLst/>
            <a:cxnLst/>
            <a:rect r="r" b="b" t="t" l="l"/>
            <a:pathLst>
              <a:path h="1680024" w="16255150">
                <a:moveTo>
                  <a:pt x="0" y="1680024"/>
                </a:moveTo>
                <a:lnTo>
                  <a:pt x="7774444" y="1680024"/>
                </a:lnTo>
                <a:cubicBezTo>
                  <a:pt x="7900696" y="1680024"/>
                  <a:pt x="8003044" y="1577676"/>
                  <a:pt x="8003044" y="1451424"/>
                </a:cubicBezTo>
                <a:lnTo>
                  <a:pt x="8003044" y="228600"/>
                </a:lnTo>
                <a:cubicBezTo>
                  <a:pt x="8003044" y="167971"/>
                  <a:pt x="8027129" y="109826"/>
                  <a:pt x="8070000" y="66955"/>
                </a:cubicBezTo>
                <a:cubicBezTo>
                  <a:pt x="8112870" y="24084"/>
                  <a:pt x="8171016" y="0"/>
                  <a:pt x="8231644" y="0"/>
                </a:cubicBezTo>
                <a:lnTo>
                  <a:pt x="1625515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0189464" y="2753798"/>
            <a:ext cx="6760859" cy="5412999"/>
          </a:xfrm>
          <a:custGeom>
            <a:avLst/>
            <a:gdLst/>
            <a:ahLst/>
            <a:cxnLst/>
            <a:rect r="r" b="b" t="t" l="l"/>
            <a:pathLst>
              <a:path h="5412999" w="6760859">
                <a:moveTo>
                  <a:pt x="0" y="0"/>
                </a:moveTo>
                <a:lnTo>
                  <a:pt x="6760859" y="0"/>
                </a:lnTo>
                <a:lnTo>
                  <a:pt x="6760859" y="5412999"/>
                </a:lnTo>
                <a:lnTo>
                  <a:pt x="0" y="5412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75" t="0" r="-8995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376093" y="1937823"/>
            <a:ext cx="5099893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Resumen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6093" y="4070412"/>
            <a:ext cx="7556554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propone desarrollar un modelo de aprendizaje automático que, a partir de un relato escrito por un estudiante, indique si describe o no una situación de acoso sexual. Se construirá un corpus de relatos voluntarios, anonimizados y anotados con una guía revisada por especialistas. Se compararán regresión logística, SVM y Naïve Bayes con TF-IDF, además de BETO, y el mejor modelo se validará frente a una línea base léxica. Al final, el modelo se integrará en un prototipo de apoyo a la revisión humana.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114800" y="1293298"/>
            <a:ext cx="1005840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Contenido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813495" y="372798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13495" y="4696362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3495" y="566473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Antecedentes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3495" y="6633112"/>
            <a:ext cx="625568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Justificación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13495" y="760148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Objetivos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24502" y="372798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Hipótesis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24502" y="4696362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Variables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24502" y="566473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Marco teórico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24502" y="6633112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Metodología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24502" y="7601487"/>
            <a:ext cx="505000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Ejecución</a:t>
            </a:r>
          </a:p>
        </p:txBody>
      </p:sp>
      <p:sp>
        <p:nvSpPr>
          <p:cNvPr name="Freeform 16" id="16"/>
          <p:cNvSpPr/>
          <p:nvPr/>
        </p:nvSpPr>
        <p:spPr>
          <a:xfrm>
            <a:off x="10424502" y="3201473"/>
            <a:ext cx="6537982" cy="5742969"/>
          </a:xfrm>
          <a:custGeom>
            <a:avLst/>
            <a:gdLst/>
            <a:ahLst/>
            <a:cxnLst/>
            <a:rect r="r" b="b" t="t" l="l"/>
            <a:pathLst>
              <a:path h="5742969" w="6537982">
                <a:moveTo>
                  <a:pt x="0" y="0"/>
                </a:moveTo>
                <a:lnTo>
                  <a:pt x="6309382" y="0"/>
                </a:lnTo>
                <a:cubicBezTo>
                  <a:pt x="6435635" y="0"/>
                  <a:pt x="6537982" y="102348"/>
                  <a:pt x="6537982" y="228601"/>
                </a:cubicBezTo>
                <a:lnTo>
                  <a:pt x="6537982" y="574296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>
            <a:off x="2813495" y="3143729"/>
            <a:ext cx="6537982" cy="5800713"/>
          </a:xfrm>
          <a:custGeom>
            <a:avLst/>
            <a:gdLst/>
            <a:ahLst/>
            <a:cxnLst/>
            <a:rect r="r" b="b" t="t" l="l"/>
            <a:pathLst>
              <a:path h="5800713" w="6537982">
                <a:moveTo>
                  <a:pt x="0" y="0"/>
                </a:moveTo>
                <a:lnTo>
                  <a:pt x="6309381" y="0"/>
                </a:lnTo>
                <a:cubicBezTo>
                  <a:pt x="6435633" y="0"/>
                  <a:pt x="6537981" y="102348"/>
                  <a:pt x="6537981" y="228600"/>
                </a:cubicBezTo>
                <a:lnTo>
                  <a:pt x="6537981" y="580071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657258" y="2490470"/>
            <a:ext cx="6282737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6867" y="4773333"/>
            <a:ext cx="6855131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Buscar palabras clave no basta: falla con el acoso contado sin términos explícitos. Un modelo de aprendizaje automático aprende de ejemplos etiquetados qué contextos acompañan a un relato de acoso.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AutoShape 7" id="7"/>
          <p:cNvSpPr/>
          <p:nvPr/>
        </p:nvSpPr>
        <p:spPr>
          <a:xfrm>
            <a:off x="9107904" y="2661920"/>
            <a:ext cx="0" cy="49631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775611" y="2614295"/>
            <a:ext cx="6855131" cy="501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1400"/>
              </a:spcAft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la universidad, las jerarquías, la normalización y la cultura del silencio hacen que el acoso casi no se denuncie.</a:t>
            </a:r>
          </a:p>
          <a:p>
            <a:pPr algn="l">
              <a:lnSpc>
                <a:spcPts val="3640"/>
              </a:lnSpc>
              <a:spcAft>
                <a:spcPts val="1400"/>
              </a:spcAft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Ya hay modelos en inglés y en español, pero con tuits o mensajes. Ninguno se entrenó con relatos de estudiantes universitarios peruanos.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370368" y="1925811"/>
            <a:ext cx="640080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9163050" y="2221665"/>
            <a:ext cx="7171742" cy="5968075"/>
          </a:xfrm>
          <a:custGeom>
            <a:avLst/>
            <a:gdLst/>
            <a:ahLst/>
            <a:cxnLst/>
            <a:rect r="r" b="b" t="t" l="l"/>
            <a:pathLst>
              <a:path h="5968075" w="7171742">
                <a:moveTo>
                  <a:pt x="0" y="5968075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7171742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370368" y="3556383"/>
            <a:ext cx="6228640" cy="455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1400"/>
              </a:spcAft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encuesta aplicada en 2019 a 151 estudiantes de la UNSAAC registró que el 77,5 % experimentó al menos una manifestación de hostigamiento sexual y que menos del 1 % lo denunció.</a:t>
            </a:r>
          </a:p>
          <a:p>
            <a:pPr algn="l">
              <a:lnSpc>
                <a:spcPts val="3640"/>
              </a:lnSpc>
              <a:spcAft>
                <a:spcPts val="1400"/>
              </a:spcAft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institución solo conoce una fracción mínima de lo que ocurre (Gutiérrez de Alarcón et al., 2022).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347824" y="2344673"/>
          <a:ext cx="6876118" cy="605993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280160" y="4318000"/>
            <a:ext cx="566928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7773664" y="3411899"/>
            <a:ext cx="1030310" cy="3463201"/>
          </a:xfrm>
          <a:custGeom>
            <a:avLst/>
            <a:gdLst/>
            <a:ahLst/>
            <a:cxnLst/>
            <a:rect r="r" b="b" t="t" l="l"/>
            <a:pathLst>
              <a:path h="3463201" w="1030310">
                <a:moveTo>
                  <a:pt x="1030310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3234602"/>
                </a:lnTo>
                <a:cubicBezTo>
                  <a:pt x="0" y="3360853"/>
                  <a:pt x="102348" y="3463202"/>
                  <a:pt x="228600" y="3463202"/>
                </a:cubicBezTo>
                <a:lnTo>
                  <a:pt x="1030310" y="346320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9435585" y="2482894"/>
            <a:ext cx="6855131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Problema central: </a:t>
            </a:r>
            <a:r>
              <a:rPr lang="en-US" sz="2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existe un modelo de aprendizaje automático desarrollado y validado para detectar acoso sexual en relatos de estudiantes de la UNSAAC.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35585" y="5946096"/>
            <a:ext cx="6855131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Causas: </a:t>
            </a:r>
            <a:r>
              <a:rPr lang="en-US" sz="2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hay un corpus local anotado; los datos disponibles tratan sexismo o ciberacoso; los casos de acoso son minoría y es fácil evaluar mal un modelo.</a:t>
            </a:r>
          </a:p>
        </p:txBody>
      </p:sp>
      <p:sp>
        <p:nvSpPr>
          <p:cNvPr name="AutoShape 9" id="9"/>
          <p:cNvSpPr/>
          <p:nvPr/>
        </p:nvSpPr>
        <p:spPr>
          <a:xfrm>
            <a:off x="6968081" y="5133975"/>
            <a:ext cx="7875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2047964" y="3870975"/>
            <a:ext cx="6541103" cy="4358010"/>
          </a:xfrm>
          <a:custGeom>
            <a:avLst/>
            <a:gdLst/>
            <a:ahLst/>
            <a:cxnLst/>
            <a:rect r="r" b="b" t="t" l="l"/>
            <a:pathLst>
              <a:path h="4358010" w="6541103">
                <a:moveTo>
                  <a:pt x="0" y="0"/>
                </a:moveTo>
                <a:lnTo>
                  <a:pt x="6541103" y="0"/>
                </a:lnTo>
                <a:lnTo>
                  <a:pt x="6541103" y="4358010"/>
                </a:lnTo>
                <a:lnTo>
                  <a:pt x="0" y="435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>
            <a:off x="9270598" y="3877795"/>
            <a:ext cx="6969439" cy="4358010"/>
          </a:xfrm>
          <a:custGeom>
            <a:avLst/>
            <a:gdLst/>
            <a:ahLst/>
            <a:cxnLst/>
            <a:rect r="r" b="b" t="t" l="l"/>
            <a:pathLst>
              <a:path h="4358010" w="6969439">
                <a:moveTo>
                  <a:pt x="6969439" y="0"/>
                </a:moveTo>
                <a:lnTo>
                  <a:pt x="228600" y="0"/>
                </a:lnTo>
                <a:cubicBezTo>
                  <a:pt x="167971" y="0"/>
                  <a:pt x="109826" y="24085"/>
                  <a:pt x="66955" y="66955"/>
                </a:cubicBezTo>
                <a:cubicBezTo>
                  <a:pt x="24084" y="109826"/>
                  <a:pt x="0" y="167972"/>
                  <a:pt x="0" y="228600"/>
                </a:cubicBezTo>
                <a:lnTo>
                  <a:pt x="0" y="4129410"/>
                </a:lnTo>
                <a:cubicBezTo>
                  <a:pt x="0" y="4190039"/>
                  <a:pt x="24084" y="4248184"/>
                  <a:pt x="66955" y="4291054"/>
                </a:cubicBezTo>
                <a:cubicBezTo>
                  <a:pt x="109826" y="4333925"/>
                  <a:pt x="167971" y="4358010"/>
                  <a:pt x="228600" y="4358010"/>
                </a:cubicBezTo>
                <a:lnTo>
                  <a:pt x="6969439" y="435801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4929456" y="1394799"/>
            <a:ext cx="8429088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Antecedentes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64890" y="4206575"/>
            <a:ext cx="5939128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Gorissen et al. (2023):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revelaciones sexuales en neerlandés; κ = 0,878.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Wijaya et al. (2022):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Naïve Bayes y SMOTE; error al evaluar.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Karami et al. (2020):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41 temas en 2379 relatos académicos.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Mohammadi et al. (2024):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BERT y SHAP para sexismo; F1 de 0,76.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383982" y="1394799"/>
            <a:ext cx="13520035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Justificación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2325256" y="3753555"/>
            <a:ext cx="6107647" cy="818860"/>
          </a:xfrm>
          <a:custGeom>
            <a:avLst/>
            <a:gdLst/>
            <a:ahLst/>
            <a:cxnLst/>
            <a:rect r="r" b="b" t="t" l="l"/>
            <a:pathLst>
              <a:path h="818860" w="6107647">
                <a:moveTo>
                  <a:pt x="0" y="818859"/>
                </a:moveTo>
                <a:lnTo>
                  <a:pt x="5879046" y="818859"/>
                </a:lnTo>
                <a:cubicBezTo>
                  <a:pt x="5939675" y="818859"/>
                  <a:pt x="5997820" y="794775"/>
                  <a:pt x="6040691" y="751904"/>
                </a:cubicBezTo>
                <a:cubicBezTo>
                  <a:pt x="6083562" y="709033"/>
                  <a:pt x="6107646" y="650888"/>
                  <a:pt x="6107646" y="590259"/>
                </a:cubicBezTo>
                <a:lnTo>
                  <a:pt x="6107646" y="228600"/>
                </a:lnTo>
                <a:cubicBezTo>
                  <a:pt x="6107646" y="102347"/>
                  <a:pt x="6005298" y="0"/>
                  <a:pt x="5879046" y="0"/>
                </a:cubicBezTo>
                <a:lnTo>
                  <a:pt x="566414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3170553" y="4726552"/>
            <a:ext cx="51919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Casi ninguna experiencia llega a denuncia. Un modelo que identifique relatos con acoso ayuda a las oficinas de orientación a priorizar casos, como pide la Ley N.° 27942.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0553" y="3831197"/>
            <a:ext cx="512064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Práctica y social</a:t>
            </a:r>
          </a:p>
        </p:txBody>
      </p:sp>
      <p:sp>
        <p:nvSpPr>
          <p:cNvPr name="Freeform 9" id="9"/>
          <p:cNvSpPr/>
          <p:nvPr/>
        </p:nvSpPr>
        <p:spPr>
          <a:xfrm>
            <a:off x="9836048" y="3753555"/>
            <a:ext cx="6107647" cy="818860"/>
          </a:xfrm>
          <a:custGeom>
            <a:avLst/>
            <a:gdLst/>
            <a:ahLst/>
            <a:cxnLst/>
            <a:rect r="r" b="b" t="t" l="l"/>
            <a:pathLst>
              <a:path h="818860" w="6107647">
                <a:moveTo>
                  <a:pt x="0" y="818859"/>
                </a:moveTo>
                <a:lnTo>
                  <a:pt x="5879047" y="818859"/>
                </a:lnTo>
                <a:cubicBezTo>
                  <a:pt x="5939676" y="818859"/>
                  <a:pt x="5997821" y="794775"/>
                  <a:pt x="6040691" y="751904"/>
                </a:cubicBezTo>
                <a:cubicBezTo>
                  <a:pt x="6083563" y="709033"/>
                  <a:pt x="6107647" y="650888"/>
                  <a:pt x="6107647" y="590259"/>
                </a:cubicBezTo>
                <a:lnTo>
                  <a:pt x="6107647" y="228600"/>
                </a:lnTo>
                <a:cubicBezTo>
                  <a:pt x="6107647" y="102347"/>
                  <a:pt x="6005300" y="0"/>
                  <a:pt x="5879047" y="0"/>
                </a:cubicBezTo>
                <a:lnTo>
                  <a:pt x="566414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681345" y="4726552"/>
            <a:ext cx="51919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modelo entrenado con relatos universitarios en español, que no existe en los antecedentes revisados, y un procedimiento para anonimizar, anotar y evaluar textos sensibles.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1345" y="3831197"/>
            <a:ext cx="512064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Teórica y metodológica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289407" y="1250960"/>
            <a:ext cx="9709186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Alineación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399571" y="3520534"/>
            <a:ext cx="17488858" cy="4405453"/>
          </a:xfrm>
          <a:custGeom>
            <a:avLst/>
            <a:gdLst/>
            <a:ahLst/>
            <a:cxnLst/>
            <a:rect r="r" b="b" t="t" l="l"/>
            <a:pathLst>
              <a:path h="4405453" w="17488858">
                <a:moveTo>
                  <a:pt x="0" y="4405453"/>
                </a:moveTo>
                <a:lnTo>
                  <a:pt x="4150018" y="4405453"/>
                </a:lnTo>
                <a:cubicBezTo>
                  <a:pt x="4276270" y="4405453"/>
                  <a:pt x="4378618" y="4303105"/>
                  <a:pt x="4378618" y="4176853"/>
                </a:cubicBezTo>
                <a:lnTo>
                  <a:pt x="4378618" y="228600"/>
                </a:lnTo>
                <a:cubicBezTo>
                  <a:pt x="4378618" y="102347"/>
                  <a:pt x="4480965" y="0"/>
                  <a:pt x="4607218" y="0"/>
                </a:cubicBezTo>
                <a:lnTo>
                  <a:pt x="8619278" y="0"/>
                </a:lnTo>
                <a:cubicBezTo>
                  <a:pt x="8745530" y="0"/>
                  <a:pt x="8847878" y="102347"/>
                  <a:pt x="8847878" y="228600"/>
                </a:cubicBezTo>
                <a:lnTo>
                  <a:pt x="8847878" y="4176853"/>
                </a:lnTo>
                <a:cubicBezTo>
                  <a:pt x="8847878" y="4303105"/>
                  <a:pt x="8950226" y="4405453"/>
                  <a:pt x="9076478" y="4405453"/>
                </a:cubicBezTo>
                <a:lnTo>
                  <a:pt x="12911713" y="4405453"/>
                </a:lnTo>
                <a:cubicBezTo>
                  <a:pt x="12972341" y="4405453"/>
                  <a:pt x="13030487" y="4381368"/>
                  <a:pt x="13073357" y="4338497"/>
                </a:cubicBezTo>
                <a:cubicBezTo>
                  <a:pt x="13116229" y="4295627"/>
                  <a:pt x="13140313" y="4237482"/>
                  <a:pt x="13140313" y="4176853"/>
                </a:cubicBezTo>
                <a:lnTo>
                  <a:pt x="13140313" y="228600"/>
                </a:lnTo>
                <a:cubicBezTo>
                  <a:pt x="13140313" y="167971"/>
                  <a:pt x="13164398" y="109826"/>
                  <a:pt x="13207268" y="66955"/>
                </a:cubicBezTo>
                <a:cubicBezTo>
                  <a:pt x="13250138" y="24084"/>
                  <a:pt x="13308284" y="0"/>
                  <a:pt x="13368913" y="0"/>
                </a:cubicBezTo>
                <a:lnTo>
                  <a:pt x="17488858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83928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Desarrollo de </a:t>
            </a:r>
            <a:r>
              <a:rPr lang="en-US" sz="22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 xml:space="preserve">un modelo de aprendizaje automático </a:t>
            </a:r>
            <a:r>
              <a:rPr lang="en-US" sz="2200" b="1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para la detección de acoso sexual en relatos de estudiantes de la UNSAAC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1232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Título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7800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¿En qué medida el </a:t>
            </a:r>
            <a:r>
              <a:rPr lang="en-US" sz="2200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desarrollo de </a:t>
            </a:r>
            <a:r>
              <a:rPr lang="en-US" sz="2200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un modelo de aprendizaje automático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permite </a:t>
            </a:r>
            <a:r>
              <a:rPr lang="en-US" sz="220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la detección de acoso sexual en relatos de estudiantes de la UNSAAC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5104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672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Desarrollar </a:t>
            </a:r>
            <a:r>
              <a:rPr lang="en-US" sz="22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 xml:space="preserve">un modelo de aprendizaje automático </a:t>
            </a:r>
            <a:r>
              <a:rPr lang="en-US" sz="2200" b="1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para la detección de acoso sexual en relatos de estudiantes de la UNSAAC</a:t>
            </a:r>
            <a:r>
              <a:rPr lang="en-US" sz="2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evaluado con macro F1.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8976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Objetivo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15544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El </a:t>
            </a:r>
            <a:r>
              <a:rPr lang="en-US" sz="2200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 xml:space="preserve">modelo de aprendizaje automático </a:t>
            </a:r>
            <a:r>
              <a:rPr lang="en-US" sz="2200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desarrollado </a:t>
            </a:r>
            <a:r>
              <a:rPr lang="en-US" sz="220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detecta acoso sexual en relatos de estudiantes de la UNSAAC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mejor que una línea base.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2848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Hipótesis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8A6"/>
                </a:solidFill>
                <a:latin typeface="Inter"/>
              </a:rPr>
              <a:t>Proceso</a:t>
            </a:r>
            <a:r>
              <a:rPr sz="2600" b="1">
                <a:solidFill>
                  <a:srgbClr val="000000"/>
                </a:solidFill>
                <a:latin typeface="Inter"/>
              </a:rPr>
              <a:t xml:space="preserve">   +   </a:t>
            </a:r>
            <a:r>
              <a:rPr sz="2600" b="1">
                <a:solidFill>
                  <a:srgbClr val="CC9900"/>
                </a:solidFill>
                <a:latin typeface="Inter"/>
              </a:rPr>
              <a:t>Tecnología</a:t>
            </a:r>
            <a:r>
              <a:rPr sz="2600" b="1">
                <a:solidFill>
                  <a:srgbClr val="000000"/>
                </a:solidFill>
                <a:latin typeface="Inter"/>
              </a:rPr>
              <a:t xml:space="preserve">   +   </a:t>
            </a:r>
            <a:r>
              <a:rPr sz="2600" b="1">
                <a:solidFill>
                  <a:srgbClr val="C00000"/>
                </a:solidFill>
                <a:latin typeface="Inter"/>
              </a:rPr>
              <a:t>Contexto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640902" y="4327525"/>
            <a:ext cx="5713447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9163050" y="1900253"/>
            <a:ext cx="5399818" cy="818860"/>
          </a:xfrm>
          <a:custGeom>
            <a:avLst/>
            <a:gdLst/>
            <a:ahLst/>
            <a:cxnLst/>
            <a:rect r="r" b="b" t="t" l="l"/>
            <a:pathLst>
              <a:path h="818860" w="5399818">
                <a:moveTo>
                  <a:pt x="5399818" y="818860"/>
                </a:moveTo>
                <a:lnTo>
                  <a:pt x="228600" y="818860"/>
                </a:lnTo>
                <a:cubicBezTo>
                  <a:pt x="167971" y="818860"/>
                  <a:pt x="109826" y="794776"/>
                  <a:pt x="66956" y="751905"/>
                </a:cubicBezTo>
                <a:cubicBezTo>
                  <a:pt x="24085" y="709034"/>
                  <a:pt x="0" y="650889"/>
                  <a:pt x="0" y="590260"/>
                </a:cubicBezTo>
                <a:lnTo>
                  <a:pt x="0" y="228600"/>
                </a:lnTo>
                <a:cubicBezTo>
                  <a:pt x="0" y="167972"/>
                  <a:pt x="24085" y="109826"/>
                  <a:pt x="66956" y="66956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483326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9163094" y="2873251"/>
            <a:ext cx="614783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¿En qué medida el </a:t>
            </a:r>
            <a:r>
              <a:rPr lang="en-US" sz="2400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desarrollo de </a:t>
            </a:r>
            <a:r>
              <a:rPr lang="en-US" sz="2400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un modelo de aprendizaje automático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permite </a:t>
            </a:r>
            <a:r>
              <a:rPr lang="en-US" sz="240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la detección de acoso sexual en relatos de estudiantes de la UNSAAC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frente a una línea base?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0890" y="1977895"/>
            <a:ext cx="2998743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General</a:t>
            </a:r>
          </a:p>
        </p:txBody>
      </p:sp>
      <p:sp>
        <p:nvSpPr>
          <p:cNvPr name="Freeform 9" id="9"/>
          <p:cNvSpPr/>
          <p:nvPr/>
        </p:nvSpPr>
        <p:spPr>
          <a:xfrm>
            <a:off x="9163050" y="5622414"/>
            <a:ext cx="5399818" cy="818860"/>
          </a:xfrm>
          <a:custGeom>
            <a:avLst/>
            <a:gdLst/>
            <a:ahLst/>
            <a:cxnLst/>
            <a:rect r="r" b="b" t="t" l="l"/>
            <a:pathLst>
              <a:path h="818860" w="5399818">
                <a:moveTo>
                  <a:pt x="5399818" y="818860"/>
                </a:moveTo>
                <a:lnTo>
                  <a:pt x="228600" y="818860"/>
                </a:lnTo>
                <a:cubicBezTo>
                  <a:pt x="102348" y="818860"/>
                  <a:pt x="0" y="716512"/>
                  <a:pt x="0" y="590260"/>
                </a:cubicBezTo>
                <a:lnTo>
                  <a:pt x="0" y="228600"/>
                </a:lnTo>
                <a:cubicBezTo>
                  <a:pt x="0" y="167972"/>
                  <a:pt x="24085" y="109826"/>
                  <a:pt x="66956" y="66955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483326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9163094" y="6595412"/>
            <a:ext cx="614783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PE1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¿Qué acuerdo alcanza el corpus de </a:t>
            </a:r>
            <a:r>
              <a:rPr lang="en-US" sz="2000" b="1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relatos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PE2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¿Qué </a:t>
            </a:r>
            <a:r>
              <a:rPr lang="en-US" sz="20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detecta mejor el </a:t>
            </a:r>
            <a:r>
              <a:rPr lang="en-US" sz="2000" b="1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acoso sexual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PE3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¿Qué desempeño y errores tiene frente a la línea base?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PE4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¿Cómo llevar el </a:t>
            </a:r>
            <a:r>
              <a:rPr lang="en-US" sz="20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a un prototipo?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0890" y="5700056"/>
            <a:ext cx="2998743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Específicos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640902" y="4327525"/>
            <a:ext cx="5713447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Objetivos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9163050" y="1900253"/>
            <a:ext cx="5399818" cy="818860"/>
          </a:xfrm>
          <a:custGeom>
            <a:avLst/>
            <a:gdLst/>
            <a:ahLst/>
            <a:cxnLst/>
            <a:rect r="r" b="b" t="t" l="l"/>
            <a:pathLst>
              <a:path h="818860" w="5399818">
                <a:moveTo>
                  <a:pt x="5399818" y="818860"/>
                </a:moveTo>
                <a:lnTo>
                  <a:pt x="228600" y="818860"/>
                </a:lnTo>
                <a:cubicBezTo>
                  <a:pt x="167971" y="818860"/>
                  <a:pt x="109826" y="794776"/>
                  <a:pt x="66956" y="751905"/>
                </a:cubicBezTo>
                <a:cubicBezTo>
                  <a:pt x="24085" y="709034"/>
                  <a:pt x="0" y="650889"/>
                  <a:pt x="0" y="590260"/>
                </a:cubicBezTo>
                <a:lnTo>
                  <a:pt x="0" y="228600"/>
                </a:lnTo>
                <a:cubicBezTo>
                  <a:pt x="0" y="167972"/>
                  <a:pt x="24085" y="109826"/>
                  <a:pt x="66956" y="66956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483326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9163094" y="2873251"/>
            <a:ext cx="614783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00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Desarrollar </a:t>
            </a:r>
            <a:r>
              <a:rPr lang="en-US" sz="2200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 xml:space="preserve">un modelo de aprendizaje automático </a:t>
            </a:r>
            <a:r>
              <a:rPr lang="en-US" sz="220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para la detección de acoso sexual en relatos de estudiantes de la UNSAAC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evaluado con macro F1 y exhaustividad frente a una línea base léxica.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70890" y="1977895"/>
            <a:ext cx="2998743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General</a:t>
            </a:r>
          </a:p>
        </p:txBody>
      </p:sp>
      <p:sp>
        <p:nvSpPr>
          <p:cNvPr name="Freeform 9" id="9"/>
          <p:cNvSpPr/>
          <p:nvPr/>
        </p:nvSpPr>
        <p:spPr>
          <a:xfrm>
            <a:off x="9163050" y="5622414"/>
            <a:ext cx="5399818" cy="818860"/>
          </a:xfrm>
          <a:custGeom>
            <a:avLst/>
            <a:gdLst/>
            <a:ahLst/>
            <a:cxnLst/>
            <a:rect r="r" b="b" t="t" l="l"/>
            <a:pathLst>
              <a:path h="818860" w="5399818">
                <a:moveTo>
                  <a:pt x="5399818" y="818860"/>
                </a:moveTo>
                <a:lnTo>
                  <a:pt x="228600" y="818860"/>
                </a:lnTo>
                <a:cubicBezTo>
                  <a:pt x="102348" y="818860"/>
                  <a:pt x="0" y="716512"/>
                  <a:pt x="0" y="590260"/>
                </a:cubicBezTo>
                <a:lnTo>
                  <a:pt x="0" y="228600"/>
                </a:lnTo>
                <a:cubicBezTo>
                  <a:pt x="0" y="167972"/>
                  <a:pt x="24085" y="109826"/>
                  <a:pt x="66956" y="66955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483326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9163094" y="6595412"/>
            <a:ext cx="6147839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OE1 Construir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el corpus de </a:t>
            </a:r>
            <a:r>
              <a:rPr lang="en-US" sz="2000" b="1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relatos de la UNSAAC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OE2 Entrenar y seleccionar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el mejor </a:t>
            </a:r>
            <a:r>
              <a:rPr lang="en-US" sz="20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OE3 Validar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el </a:t>
            </a:r>
            <a:r>
              <a:rPr lang="en-US" sz="2000" b="1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>modelo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frente a la línea base.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20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OE4 Implementar </a:t>
            </a:r>
            <a:r>
              <a:rPr lang="en-US" sz="20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prototipo de apoyo.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0890" y="5700056"/>
            <a:ext cx="2998743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Específicos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0133730" y="2714345"/>
            <a:ext cx="574431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Hipótesis</a:t>
            </a:r>
          </a:p>
        </p:txBody>
      </p:sp>
      <p:sp>
        <p:nvSpPr>
          <p:cNvPr name="Freeform 5" id="5"/>
          <p:cNvSpPr/>
          <p:nvPr/>
        </p:nvSpPr>
        <p:spPr>
          <a:xfrm>
            <a:off x="9730156" y="2711460"/>
            <a:ext cx="6622106" cy="1635178"/>
          </a:xfrm>
          <a:custGeom>
            <a:avLst/>
            <a:gdLst/>
            <a:ahLst/>
            <a:cxnLst/>
            <a:rect r="r" b="b" t="t" l="l"/>
            <a:pathLst>
              <a:path h="1635178" w="6622106">
                <a:moveTo>
                  <a:pt x="6622106" y="1635178"/>
                </a:moveTo>
                <a:lnTo>
                  <a:pt x="228600" y="1635178"/>
                </a:lnTo>
                <a:cubicBezTo>
                  <a:pt x="167972" y="1635178"/>
                  <a:pt x="109826" y="1611093"/>
                  <a:pt x="66956" y="1568223"/>
                </a:cubicBezTo>
                <a:cubicBezTo>
                  <a:pt x="24085" y="1525352"/>
                  <a:pt x="0" y="1467206"/>
                  <a:pt x="0" y="1406578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564958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935738" y="2711460"/>
            <a:ext cx="7315550" cy="4883130"/>
          </a:xfrm>
          <a:custGeom>
            <a:avLst/>
            <a:gdLst/>
            <a:ahLst/>
            <a:cxnLst/>
            <a:rect r="r" b="b" t="t" l="l"/>
            <a:pathLst>
              <a:path h="4883130" w="7315550">
                <a:moveTo>
                  <a:pt x="0" y="0"/>
                </a:moveTo>
                <a:lnTo>
                  <a:pt x="7315550" y="0"/>
                </a:lnTo>
                <a:lnTo>
                  <a:pt x="7315550" y="4883130"/>
                </a:lnTo>
                <a:lnTo>
                  <a:pt x="0" y="4883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0200" y="4869805"/>
            <a:ext cx="614783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1200"/>
              </a:spcAft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El </a:t>
            </a:r>
            <a:r>
              <a:rPr lang="en-US" sz="2400">
                <a:solidFill>
                  <a:srgbClr val="CC9900"/>
                </a:solidFill>
                <a:latin typeface="Inter"/>
                <a:ea typeface="Inter"/>
                <a:cs typeface="Inter"/>
                <a:sym typeface="Inter"/>
              </a:rPr>
              <a:t xml:space="preserve">modelo de aprendizaje automático </a:t>
            </a:r>
            <a:r>
              <a:rPr lang="en-US" sz="2400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desarrollado </a:t>
            </a:r>
            <a:r>
              <a:rPr lang="en-US" sz="2400">
                <a:solidFill>
                  <a:srgbClr val="C00000"/>
                </a:solidFill>
                <a:latin typeface="Inter"/>
                <a:ea typeface="Inter"/>
                <a:cs typeface="Inter"/>
                <a:sym typeface="Inter"/>
              </a:rPr>
              <a:t>detecta acoso sexual en relatos de estudiantes de la UNSAAC</a:t>
            </a: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 xml:space="preserve"> con un desempeño significativamente superior al de una línea base.</a:t>
            </a:r>
          </a:p>
          <a:p>
            <a:pPr algn="l">
              <a:lnSpc>
                <a:spcPts val="3640"/>
              </a:lnSpc>
              <a:spcAft>
                <a:spcPts val="1200"/>
              </a:spcAft>
            </a:pPr>
            <a:r>
              <a:rPr lang="en-US" sz="24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H₀: </a:t>
            </a:r>
            <a:r>
              <a:rPr lang="en-US" sz="24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Macro F1 del modelo ≤ Macro F1 de la línea base léxica (α = 0,05; McNemar e IC 95 %).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1097280" y="4318000"/>
            <a:ext cx="585216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Variables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7773664" y="3411899"/>
            <a:ext cx="1030310" cy="3463201"/>
          </a:xfrm>
          <a:custGeom>
            <a:avLst/>
            <a:gdLst/>
            <a:ahLst/>
            <a:cxnLst/>
            <a:rect r="r" b="b" t="t" l="l"/>
            <a:pathLst>
              <a:path h="3463201" w="1030310">
                <a:moveTo>
                  <a:pt x="1030310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3234602"/>
                </a:lnTo>
                <a:cubicBezTo>
                  <a:pt x="0" y="3360853"/>
                  <a:pt x="102348" y="3463202"/>
                  <a:pt x="228600" y="3463202"/>
                </a:cubicBezTo>
                <a:lnTo>
                  <a:pt x="1030310" y="346320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9435585" y="2482894"/>
            <a:ext cx="6855131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VI: </a:t>
            </a:r>
            <a:r>
              <a:rPr lang="en-US" sz="2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 de aprendizaje automático: representación (TF-IDF o BETO), algoritmo y tratamiento del desbalance.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35585" y="5946096"/>
            <a:ext cx="6855131" cy="181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VD: </a:t>
            </a:r>
            <a:r>
              <a:rPr lang="en-US" sz="2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detección de acoso sexual: macro F1, precisión, exhaustividad y F1 de los relatos con acoso.</a:t>
            </a:r>
          </a:p>
        </p:txBody>
      </p:sp>
      <p:sp>
        <p:nvSpPr>
          <p:cNvPr name="AutoShape 9" id="9"/>
          <p:cNvSpPr/>
          <p:nvPr/>
        </p:nvSpPr>
        <p:spPr>
          <a:xfrm>
            <a:off x="6968081" y="5133975"/>
            <a:ext cx="78758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581215" y="1250960"/>
            <a:ext cx="712557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Metodología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2540174" y="3501484"/>
            <a:ext cx="5466307" cy="4966793"/>
          </a:xfrm>
          <a:custGeom>
            <a:avLst/>
            <a:gdLst/>
            <a:ahLst/>
            <a:cxnLst/>
            <a:rect r="r" b="b" t="t" l="l"/>
            <a:pathLst>
              <a:path h="4966793" w="5466307">
                <a:moveTo>
                  <a:pt x="5466308" y="4966793"/>
                </a:moveTo>
                <a:lnTo>
                  <a:pt x="228600" y="4966793"/>
                </a:lnTo>
                <a:cubicBezTo>
                  <a:pt x="167972" y="4966793"/>
                  <a:pt x="109827" y="4942708"/>
                  <a:pt x="66956" y="4899837"/>
                </a:cubicBezTo>
                <a:cubicBezTo>
                  <a:pt x="24085" y="4856967"/>
                  <a:pt x="0" y="4798822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7" y="24084"/>
                  <a:pt x="167972" y="0"/>
                  <a:pt x="228600" y="0"/>
                </a:cubicBezTo>
                <a:lnTo>
                  <a:pt x="5194535" y="0"/>
                </a:lnTo>
                <a:cubicBezTo>
                  <a:pt x="5320786" y="0"/>
                  <a:pt x="5423135" y="102347"/>
                  <a:pt x="5423135" y="228600"/>
                </a:cubicBezTo>
                <a:lnTo>
                  <a:pt x="5423135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936670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Aplicada y tecnológica, con enfoque cuantitativo y alcance explicativo.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6843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Tipo</a:t>
            </a:r>
          </a:p>
        </p:txBody>
      </p:sp>
      <p:sp>
        <p:nvSpPr>
          <p:cNvPr name="Freeform 9" id="9"/>
          <p:cNvSpPr/>
          <p:nvPr/>
        </p:nvSpPr>
        <p:spPr>
          <a:xfrm>
            <a:off x="10300568" y="3501484"/>
            <a:ext cx="5466308" cy="4966793"/>
          </a:xfrm>
          <a:custGeom>
            <a:avLst/>
            <a:gdLst/>
            <a:ahLst/>
            <a:cxnLst/>
            <a:rect r="r" b="b" t="t" l="l"/>
            <a:pathLst>
              <a:path h="4966793" w="5466308">
                <a:moveTo>
                  <a:pt x="5466308" y="4966793"/>
                </a:moveTo>
                <a:lnTo>
                  <a:pt x="228600" y="4966793"/>
                </a:lnTo>
                <a:cubicBezTo>
                  <a:pt x="102348" y="4966793"/>
                  <a:pt x="0" y="4864445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5194534" y="0"/>
                </a:lnTo>
                <a:cubicBezTo>
                  <a:pt x="5320787" y="0"/>
                  <a:pt x="5423134" y="102347"/>
                  <a:pt x="5423134" y="228600"/>
                </a:cubicBezTo>
                <a:lnTo>
                  <a:pt x="5423134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697064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Experimental computacional: 13 configuraciones y dos líneas base, probadas con los mismos relatos y comparadas con McNemar.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7237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Diseño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289407" y="1250960"/>
            <a:ext cx="9709186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Etapas del Desarrollo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399571" y="3520534"/>
            <a:ext cx="17488858" cy="4405453"/>
          </a:xfrm>
          <a:custGeom>
            <a:avLst/>
            <a:gdLst/>
            <a:ahLst/>
            <a:cxnLst/>
            <a:rect r="r" b="b" t="t" l="l"/>
            <a:pathLst>
              <a:path h="4405453" w="17488858">
                <a:moveTo>
                  <a:pt x="0" y="4405453"/>
                </a:moveTo>
                <a:lnTo>
                  <a:pt x="4150018" y="4405453"/>
                </a:lnTo>
                <a:cubicBezTo>
                  <a:pt x="4276270" y="4405453"/>
                  <a:pt x="4378618" y="4303105"/>
                  <a:pt x="4378618" y="4176853"/>
                </a:cubicBezTo>
                <a:lnTo>
                  <a:pt x="4378618" y="228600"/>
                </a:lnTo>
                <a:cubicBezTo>
                  <a:pt x="4378618" y="102347"/>
                  <a:pt x="4480965" y="0"/>
                  <a:pt x="4607218" y="0"/>
                </a:cubicBezTo>
                <a:lnTo>
                  <a:pt x="8619278" y="0"/>
                </a:lnTo>
                <a:cubicBezTo>
                  <a:pt x="8745530" y="0"/>
                  <a:pt x="8847878" y="102347"/>
                  <a:pt x="8847878" y="228600"/>
                </a:cubicBezTo>
                <a:lnTo>
                  <a:pt x="8847878" y="4176853"/>
                </a:lnTo>
                <a:cubicBezTo>
                  <a:pt x="8847878" y="4303105"/>
                  <a:pt x="8950226" y="4405453"/>
                  <a:pt x="9076478" y="4405453"/>
                </a:cubicBezTo>
                <a:lnTo>
                  <a:pt x="12911713" y="4405453"/>
                </a:lnTo>
                <a:cubicBezTo>
                  <a:pt x="12972341" y="4405453"/>
                  <a:pt x="13030487" y="4381368"/>
                  <a:pt x="13073357" y="4338497"/>
                </a:cubicBezTo>
                <a:cubicBezTo>
                  <a:pt x="13116229" y="4295627"/>
                  <a:pt x="13140313" y="4237482"/>
                  <a:pt x="13140313" y="4176853"/>
                </a:cubicBezTo>
                <a:lnTo>
                  <a:pt x="13140313" y="228600"/>
                </a:lnTo>
                <a:cubicBezTo>
                  <a:pt x="13140313" y="167971"/>
                  <a:pt x="13164398" y="109826"/>
                  <a:pt x="13207268" y="66955"/>
                </a:cubicBezTo>
                <a:cubicBezTo>
                  <a:pt x="13250138" y="24084"/>
                  <a:pt x="13308284" y="0"/>
                  <a:pt x="13368913" y="0"/>
                </a:cubicBezTo>
                <a:lnTo>
                  <a:pt x="17488858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83928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Autorización ética, piloto, recolección, anonimización y anotación (κ).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1232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OE1 Corpus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7800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Partición 80/20 por participante y 13 configuraciones con validación cruzada.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5104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OE2 Modelo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672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Prueba única: macro F1 y McNemar frente a la línea base léxica.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8976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OE3 Prueba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15544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FastAPI y React; predicción y palabras clave según SHAP.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2848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OE4 Prototipo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555555"/>
                </a:solidFill>
                <a:latin typeface="Inter"/>
              </a:rPr>
              <a:t>CRISP-DM en cuatro etapas, una por objetivo específico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370368" y="1925811"/>
            <a:ext cx="640080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Ejecución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9163050" y="2221665"/>
            <a:ext cx="7171742" cy="5968075"/>
          </a:xfrm>
          <a:custGeom>
            <a:avLst/>
            <a:gdLst/>
            <a:ahLst/>
            <a:cxnLst/>
            <a:rect r="r" b="b" t="t" l="l"/>
            <a:pathLst>
              <a:path h="5968075" w="7171742">
                <a:moveTo>
                  <a:pt x="0" y="5968075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7171742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370368" y="3556383"/>
            <a:ext cx="6228640" cy="455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800"/>
              </a:spcAft>
            </a:pPr>
            <a:r>
              <a:rPr lang="en-US" sz="24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12 meses </a:t>
            </a:r>
            <a:r>
              <a:rPr lang="en-US" sz="24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desde la aprobación del plan.</a:t>
            </a:r>
          </a:p>
          <a:p>
            <a:pPr algn="l">
              <a:lnSpc>
                <a:spcPts val="364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1–3: autorización ética, instrumentos y piloto.</a:t>
            </a:r>
          </a:p>
          <a:p>
            <a:pPr algn="l">
              <a:lnSpc>
                <a:spcPts val="364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4–7: recolección, anonimización y anotación.</a:t>
            </a:r>
          </a:p>
          <a:p>
            <a:pPr algn="l">
              <a:lnSpc>
                <a:spcPts val="3640"/>
              </a:lnSpc>
              <a:spcAft>
                <a:spcPts val="800"/>
              </a:spcAft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8–12: modelo, prototipo y sustentación.</a:t>
            </a:r>
          </a:p>
          <a:p>
            <a:pPr algn="l">
              <a:lnSpc>
                <a:spcPts val="3640"/>
              </a:lnSpc>
              <a:spcAft>
                <a:spcPts val="800"/>
              </a:spcAft>
            </a:pPr>
            <a:r>
              <a:rPr lang="en-US" sz="24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Presupuesto: </a:t>
            </a:r>
            <a:r>
              <a:rPr lang="en-US" sz="24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S/ 2178.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347824" y="2344673"/>
          <a:ext cx="6876118" cy="605993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58129" y="-2195789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0" y="0"/>
                </a:moveTo>
                <a:lnTo>
                  <a:pt x="8829871" y="0"/>
                </a:lnTo>
                <a:lnTo>
                  <a:pt x="8829871" y="3882432"/>
                </a:lnTo>
                <a:lnTo>
                  <a:pt x="0" y="388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497626" y="3777146"/>
            <a:ext cx="9292749" cy="2158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0"/>
              </a:lnSpc>
            </a:pPr>
            <a:r>
              <a:rPr lang="en-US" sz="125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¡Gracias!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8623094"/>
            <a:ext cx="8829871" cy="3882432"/>
          </a:xfrm>
          <a:custGeom>
            <a:avLst/>
            <a:gdLst/>
            <a:ahLst/>
            <a:cxnLst/>
            <a:rect r="r" b="b" t="t" l="l"/>
            <a:pathLst>
              <a:path h="3882432" w="8829871">
                <a:moveTo>
                  <a:pt x="8829871" y="0"/>
                </a:moveTo>
                <a:lnTo>
                  <a:pt x="0" y="0"/>
                </a:lnTo>
                <a:lnTo>
                  <a:pt x="0" y="3882432"/>
                </a:lnTo>
                <a:lnTo>
                  <a:pt x="8829871" y="3882432"/>
                </a:lnTo>
                <a:lnTo>
                  <a:pt x="88298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>
            <a:off x="3765047" y="2980153"/>
            <a:ext cx="10648659" cy="4326694"/>
          </a:xfrm>
          <a:custGeom>
            <a:avLst/>
            <a:gdLst/>
            <a:ahLst/>
            <a:cxnLst/>
            <a:rect r="r" b="b" t="t" l="l"/>
            <a:pathLst>
              <a:path h="4326694" w="10648659">
                <a:moveTo>
                  <a:pt x="10648659" y="4326694"/>
                </a:moveTo>
                <a:lnTo>
                  <a:pt x="228600" y="4326694"/>
                </a:lnTo>
                <a:cubicBezTo>
                  <a:pt x="102348" y="4326694"/>
                  <a:pt x="0" y="4224346"/>
                  <a:pt x="0" y="4098094"/>
                </a:cubicBez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912187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>
            <a:off x="4481657" y="3597628"/>
            <a:ext cx="10014740" cy="2941755"/>
          </a:xfrm>
          <a:custGeom>
            <a:avLst/>
            <a:gdLst/>
            <a:ahLst/>
            <a:cxnLst/>
            <a:rect r="r" b="b" t="t" l="l"/>
            <a:pathLst>
              <a:path h="2941755" w="10014740">
                <a:moveTo>
                  <a:pt x="0" y="2941754"/>
                </a:moveTo>
                <a:lnTo>
                  <a:pt x="9786140" y="2941754"/>
                </a:lnTo>
                <a:cubicBezTo>
                  <a:pt x="9846769" y="2941754"/>
                  <a:pt x="9904914" y="2917670"/>
                  <a:pt x="9947785" y="2874799"/>
                </a:cubicBezTo>
                <a:cubicBezTo>
                  <a:pt x="9990657" y="2831928"/>
                  <a:pt x="10014740" y="2773783"/>
                  <a:pt x="10014740" y="2713154"/>
                </a:cubicBezTo>
                <a:lnTo>
                  <a:pt x="10014740" y="228600"/>
                </a:lnTo>
                <a:cubicBezTo>
                  <a:pt x="10014740" y="102347"/>
                  <a:pt x="9912393" y="0"/>
                  <a:pt x="9786140" y="0"/>
                </a:cubicBezTo>
                <a:lnTo>
                  <a:pt x="147361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581215" y="1250960"/>
            <a:ext cx="712557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Tecnologías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2540174" y="3501484"/>
            <a:ext cx="5466307" cy="4966793"/>
          </a:xfrm>
          <a:custGeom>
            <a:avLst/>
            <a:gdLst/>
            <a:ahLst/>
            <a:cxnLst/>
            <a:rect r="r" b="b" t="t" l="l"/>
            <a:pathLst>
              <a:path h="4966793" w="5466307">
                <a:moveTo>
                  <a:pt x="5466308" y="4966793"/>
                </a:moveTo>
                <a:lnTo>
                  <a:pt x="228600" y="4966793"/>
                </a:lnTo>
                <a:cubicBezTo>
                  <a:pt x="167972" y="4966793"/>
                  <a:pt x="109827" y="4942708"/>
                  <a:pt x="66956" y="4899837"/>
                </a:cubicBezTo>
                <a:cubicBezTo>
                  <a:pt x="24085" y="4856967"/>
                  <a:pt x="0" y="4798822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7" y="24084"/>
                  <a:pt x="167972" y="0"/>
                  <a:pt x="228600" y="0"/>
                </a:cubicBezTo>
                <a:lnTo>
                  <a:pt x="5194535" y="0"/>
                </a:lnTo>
                <a:cubicBezTo>
                  <a:pt x="5320786" y="0"/>
                  <a:pt x="5423135" y="102347"/>
                  <a:pt x="5423135" y="228600"/>
                </a:cubicBezTo>
                <a:lnTo>
                  <a:pt x="5423135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936670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Python, scikit-learn (pipelines sin fuga de información), PyTorch y Transformers para BETO, y SHAP para explicar.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6843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Modelado</a:t>
            </a:r>
          </a:p>
        </p:txBody>
      </p:sp>
      <p:sp>
        <p:nvSpPr>
          <p:cNvPr name="Freeform 9" id="9"/>
          <p:cNvSpPr/>
          <p:nvPr/>
        </p:nvSpPr>
        <p:spPr>
          <a:xfrm>
            <a:off x="10300568" y="3501484"/>
            <a:ext cx="5466308" cy="4966793"/>
          </a:xfrm>
          <a:custGeom>
            <a:avLst/>
            <a:gdLst/>
            <a:ahLst/>
            <a:cxnLst/>
            <a:rect r="r" b="b" t="t" l="l"/>
            <a:pathLst>
              <a:path h="4966793" w="5466308">
                <a:moveTo>
                  <a:pt x="5466308" y="4966793"/>
                </a:moveTo>
                <a:lnTo>
                  <a:pt x="228600" y="4966793"/>
                </a:lnTo>
                <a:cubicBezTo>
                  <a:pt x="102348" y="4966793"/>
                  <a:pt x="0" y="4864445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5194534" y="0"/>
                </a:lnTo>
                <a:cubicBezTo>
                  <a:pt x="5320787" y="0"/>
                  <a:pt x="5423134" y="102347"/>
                  <a:pt x="5423134" y="228600"/>
                </a:cubicBezTo>
                <a:lnTo>
                  <a:pt x="5423134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697064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FastAPI como API REST con el modelo y React para la interfaz. Todo corre en un equipo local.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7237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Prototipo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2047964" y="3870975"/>
            <a:ext cx="6541103" cy="4358010"/>
          </a:xfrm>
          <a:custGeom>
            <a:avLst/>
            <a:gdLst/>
            <a:ahLst/>
            <a:cxnLst/>
            <a:rect r="r" b="b" t="t" l="l"/>
            <a:pathLst>
              <a:path h="4358010" w="6541103">
                <a:moveTo>
                  <a:pt x="0" y="0"/>
                </a:moveTo>
                <a:lnTo>
                  <a:pt x="6541103" y="0"/>
                </a:lnTo>
                <a:lnTo>
                  <a:pt x="6541103" y="4358010"/>
                </a:lnTo>
                <a:lnTo>
                  <a:pt x="0" y="4358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>
            <a:off x="9270598" y="3877795"/>
            <a:ext cx="6969439" cy="4358010"/>
          </a:xfrm>
          <a:custGeom>
            <a:avLst/>
            <a:gdLst/>
            <a:ahLst/>
            <a:cxnLst/>
            <a:rect r="r" b="b" t="t" l="l"/>
            <a:pathLst>
              <a:path h="4358010" w="6969439">
                <a:moveTo>
                  <a:pt x="6969439" y="0"/>
                </a:moveTo>
                <a:lnTo>
                  <a:pt x="228600" y="0"/>
                </a:lnTo>
                <a:cubicBezTo>
                  <a:pt x="167971" y="0"/>
                  <a:pt x="109826" y="24085"/>
                  <a:pt x="66955" y="66955"/>
                </a:cubicBezTo>
                <a:cubicBezTo>
                  <a:pt x="24084" y="109826"/>
                  <a:pt x="0" y="167972"/>
                  <a:pt x="0" y="228600"/>
                </a:cubicBezTo>
                <a:lnTo>
                  <a:pt x="0" y="4129410"/>
                </a:lnTo>
                <a:cubicBezTo>
                  <a:pt x="0" y="4190039"/>
                  <a:pt x="24084" y="4248184"/>
                  <a:pt x="66955" y="4291054"/>
                </a:cubicBezTo>
                <a:cubicBezTo>
                  <a:pt x="109826" y="4333925"/>
                  <a:pt x="167971" y="4358010"/>
                  <a:pt x="228600" y="4358010"/>
                </a:cubicBezTo>
                <a:lnTo>
                  <a:pt x="6969439" y="435801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4929456" y="1394799"/>
            <a:ext cx="8429088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En español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64890" y="4206575"/>
            <a:ext cx="5939128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Escobar Mercado et al. (2022):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clasifican testimonios de #Cuéntalo en español.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Imbaquinga y Lara (2025):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MiniLM y LightGBM con prototipo web; F1 de 96 %.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Gutiérrez de Alarcón et al. (2022):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77,5 % de hostigamiento en la UNSAAC.</a:t>
            </a:r>
          </a:p>
          <a:p>
            <a:pPr algn="l">
              <a:lnSpc>
                <a:spcPts val="3640"/>
              </a:lnSpc>
              <a:spcAft>
                <a:spcPts val="400"/>
              </a:spcAft>
            </a:pPr>
            <a:r>
              <a:rPr lang="en-US" sz="1800" b="1">
                <a:solidFill>
                  <a:srgbClr val="2E58A6"/>
                </a:solidFill>
                <a:latin typeface="Inter"/>
                <a:ea typeface="Inter"/>
                <a:cs typeface="Inter"/>
                <a:sym typeface="Inter"/>
              </a:rPr>
              <a:t xml:space="preserve">Aguirre Soto et al. (2022): </a:t>
            </a:r>
            <a:r>
              <a:rPr lang="en-US" sz="18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BERT para ciberacoso, Perú.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2383982" y="1394799"/>
            <a:ext cx="13520035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Análisis de antecedentes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2325256" y="3753555"/>
            <a:ext cx="6107647" cy="818860"/>
          </a:xfrm>
          <a:custGeom>
            <a:avLst/>
            <a:gdLst/>
            <a:ahLst/>
            <a:cxnLst/>
            <a:rect r="r" b="b" t="t" l="l"/>
            <a:pathLst>
              <a:path h="818860" w="6107647">
                <a:moveTo>
                  <a:pt x="0" y="818859"/>
                </a:moveTo>
                <a:lnTo>
                  <a:pt x="5879046" y="818859"/>
                </a:lnTo>
                <a:cubicBezTo>
                  <a:pt x="5939675" y="818859"/>
                  <a:pt x="5997820" y="794775"/>
                  <a:pt x="6040691" y="751904"/>
                </a:cubicBezTo>
                <a:cubicBezTo>
                  <a:pt x="6083562" y="709033"/>
                  <a:pt x="6107646" y="650888"/>
                  <a:pt x="6107646" y="590259"/>
                </a:cubicBezTo>
                <a:lnTo>
                  <a:pt x="6107646" y="228600"/>
                </a:lnTo>
                <a:cubicBezTo>
                  <a:pt x="6107646" y="102347"/>
                  <a:pt x="6005298" y="0"/>
                  <a:pt x="5879046" y="0"/>
                </a:cubicBezTo>
                <a:lnTo>
                  <a:pt x="566414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3170553" y="4726552"/>
            <a:ext cx="51919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Modelos que detectan acoso, sexismo o ciberacoso en inglés y en español, incluso con prototipos web. La tarea es viable.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0553" y="3831197"/>
            <a:ext cx="512064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 que ya existe</a:t>
            </a:r>
          </a:p>
        </p:txBody>
      </p:sp>
      <p:sp>
        <p:nvSpPr>
          <p:cNvPr name="Freeform 9" id="9"/>
          <p:cNvSpPr/>
          <p:nvPr/>
        </p:nvSpPr>
        <p:spPr>
          <a:xfrm>
            <a:off x="9836048" y="3753555"/>
            <a:ext cx="6107647" cy="818860"/>
          </a:xfrm>
          <a:custGeom>
            <a:avLst/>
            <a:gdLst/>
            <a:ahLst/>
            <a:cxnLst/>
            <a:rect r="r" b="b" t="t" l="l"/>
            <a:pathLst>
              <a:path h="818860" w="6107647">
                <a:moveTo>
                  <a:pt x="0" y="818859"/>
                </a:moveTo>
                <a:lnTo>
                  <a:pt x="5879047" y="818859"/>
                </a:lnTo>
                <a:cubicBezTo>
                  <a:pt x="5939676" y="818859"/>
                  <a:pt x="5997821" y="794775"/>
                  <a:pt x="6040691" y="751904"/>
                </a:cubicBezTo>
                <a:cubicBezTo>
                  <a:pt x="6083563" y="709033"/>
                  <a:pt x="6107647" y="650888"/>
                  <a:pt x="6107647" y="590259"/>
                </a:cubicBezTo>
                <a:lnTo>
                  <a:pt x="6107647" y="228600"/>
                </a:lnTo>
                <a:cubicBezTo>
                  <a:pt x="6107647" y="102347"/>
                  <a:pt x="6005300" y="0"/>
                  <a:pt x="5879047" y="0"/>
                </a:cubicBezTo>
                <a:lnTo>
                  <a:pt x="566414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681345" y="4726552"/>
            <a:ext cx="519197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Ninguno usa relatos de estudiantes universitarios ni trabaja en el Perú, y varios no reportan bien su evaluación.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1345" y="3831197"/>
            <a:ext cx="512064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 que falta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289407" y="1250960"/>
            <a:ext cx="9709186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Marco Teórico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399571" y="3520534"/>
            <a:ext cx="17488858" cy="4405453"/>
          </a:xfrm>
          <a:custGeom>
            <a:avLst/>
            <a:gdLst/>
            <a:ahLst/>
            <a:cxnLst/>
            <a:rect r="r" b="b" t="t" l="l"/>
            <a:pathLst>
              <a:path h="4405453" w="17488858">
                <a:moveTo>
                  <a:pt x="0" y="4405453"/>
                </a:moveTo>
                <a:lnTo>
                  <a:pt x="4150018" y="4405453"/>
                </a:lnTo>
                <a:cubicBezTo>
                  <a:pt x="4276270" y="4405453"/>
                  <a:pt x="4378618" y="4303105"/>
                  <a:pt x="4378618" y="4176853"/>
                </a:cubicBezTo>
                <a:lnTo>
                  <a:pt x="4378618" y="228600"/>
                </a:lnTo>
                <a:cubicBezTo>
                  <a:pt x="4378618" y="102347"/>
                  <a:pt x="4480965" y="0"/>
                  <a:pt x="4607218" y="0"/>
                </a:cubicBezTo>
                <a:lnTo>
                  <a:pt x="8619278" y="0"/>
                </a:lnTo>
                <a:cubicBezTo>
                  <a:pt x="8745530" y="0"/>
                  <a:pt x="8847878" y="102347"/>
                  <a:pt x="8847878" y="228600"/>
                </a:cubicBezTo>
                <a:lnTo>
                  <a:pt x="8847878" y="4176853"/>
                </a:lnTo>
                <a:cubicBezTo>
                  <a:pt x="8847878" y="4303105"/>
                  <a:pt x="8950226" y="4405453"/>
                  <a:pt x="9076478" y="4405453"/>
                </a:cubicBezTo>
                <a:lnTo>
                  <a:pt x="12911713" y="4405453"/>
                </a:lnTo>
                <a:cubicBezTo>
                  <a:pt x="12972341" y="4405453"/>
                  <a:pt x="13030487" y="4381368"/>
                  <a:pt x="13073357" y="4338497"/>
                </a:cubicBezTo>
                <a:cubicBezTo>
                  <a:pt x="13116229" y="4295627"/>
                  <a:pt x="13140313" y="4237482"/>
                  <a:pt x="13140313" y="4176853"/>
                </a:cubicBezTo>
                <a:lnTo>
                  <a:pt x="13140313" y="228600"/>
                </a:lnTo>
                <a:cubicBezTo>
                  <a:pt x="13140313" y="167971"/>
                  <a:pt x="13164398" y="109826"/>
                  <a:pt x="13207268" y="66955"/>
                </a:cubicBezTo>
                <a:cubicBezTo>
                  <a:pt x="13250138" y="24084"/>
                  <a:pt x="13308284" y="0"/>
                  <a:pt x="13368913" y="0"/>
                </a:cubicBezTo>
                <a:lnTo>
                  <a:pt x="17488858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883928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TF-IDF con n-gramas: cada relato se vuelve un vector de pesos.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1232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7800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Regresión logística (sigmoide), SVM (margen máximo) y Naïve Bayes.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35104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Clásicos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672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Transformer en español: la atención da a cada palabra su sentido según el contexto.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8976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BETO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15544" y="4404045"/>
            <a:ext cx="3488528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Macro F1, precisión, exhaustividad, kappa de Cohen y prueba de McNemar.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2848" y="3621735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52928"/>
            <a:ext cx="1463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555555"/>
                </a:solidFill>
                <a:latin typeface="Inter"/>
              </a:rPr>
              <a:t>Bases que sustentan cada etapa del modelo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9258300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7385212" y="0"/>
                </a:moveTo>
                <a:lnTo>
                  <a:pt x="0" y="0"/>
                </a:lnTo>
                <a:lnTo>
                  <a:pt x="0" y="3247226"/>
                </a:lnTo>
                <a:lnTo>
                  <a:pt x="7385212" y="3247226"/>
                </a:lnTo>
                <a:lnTo>
                  <a:pt x="73852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5581215" y="1250960"/>
            <a:ext cx="7125570" cy="14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7200" b="true">
                <a:solidFill>
                  <a:srgbClr val="2E58A6"/>
                </a:solidFill>
                <a:latin typeface="Roboto Bold"/>
                <a:ea typeface="Roboto Bold"/>
                <a:cs typeface="Roboto Bold"/>
                <a:sym typeface="Roboto Bold"/>
              </a:rPr>
              <a:t>Datos y entorno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256" y="514350"/>
            <a:ext cx="68847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UNSAAC | Plan de tesis 2026</a:t>
            </a:r>
          </a:p>
        </p:txBody>
      </p:sp>
      <p:sp>
        <p:nvSpPr>
          <p:cNvPr name="Freeform 6" id="6"/>
          <p:cNvSpPr/>
          <p:nvPr/>
        </p:nvSpPr>
        <p:spPr>
          <a:xfrm>
            <a:off x="2540174" y="3501484"/>
            <a:ext cx="5466307" cy="4966793"/>
          </a:xfrm>
          <a:custGeom>
            <a:avLst/>
            <a:gdLst/>
            <a:ahLst/>
            <a:cxnLst/>
            <a:rect r="r" b="b" t="t" l="l"/>
            <a:pathLst>
              <a:path h="4966793" w="5466307">
                <a:moveTo>
                  <a:pt x="5466308" y="4966793"/>
                </a:moveTo>
                <a:lnTo>
                  <a:pt x="228600" y="4966793"/>
                </a:lnTo>
                <a:cubicBezTo>
                  <a:pt x="167972" y="4966793"/>
                  <a:pt x="109827" y="4942708"/>
                  <a:pt x="66956" y="4899837"/>
                </a:cubicBezTo>
                <a:cubicBezTo>
                  <a:pt x="24085" y="4856967"/>
                  <a:pt x="0" y="4798822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7" y="24084"/>
                  <a:pt x="167972" y="0"/>
                  <a:pt x="228600" y="0"/>
                </a:cubicBezTo>
                <a:lnTo>
                  <a:pt x="5194535" y="0"/>
                </a:lnTo>
                <a:cubicBezTo>
                  <a:pt x="5320786" y="0"/>
                  <a:pt x="5423135" y="102347"/>
                  <a:pt x="5423135" y="228600"/>
                </a:cubicBezTo>
                <a:lnTo>
                  <a:pt x="5423135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936670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400 a 600 relatos voluntarios de estudiantes de la UNSAAC, anonimizados y doblemente anotados.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26843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Corpus</a:t>
            </a:r>
          </a:p>
        </p:txBody>
      </p:sp>
      <p:sp>
        <p:nvSpPr>
          <p:cNvPr name="Freeform 9" id="9"/>
          <p:cNvSpPr/>
          <p:nvPr/>
        </p:nvSpPr>
        <p:spPr>
          <a:xfrm>
            <a:off x="10300568" y="3501484"/>
            <a:ext cx="5466308" cy="4966793"/>
          </a:xfrm>
          <a:custGeom>
            <a:avLst/>
            <a:gdLst/>
            <a:ahLst/>
            <a:cxnLst/>
            <a:rect r="r" b="b" t="t" l="l"/>
            <a:pathLst>
              <a:path h="4966793" w="5466308">
                <a:moveTo>
                  <a:pt x="5466308" y="4966793"/>
                </a:moveTo>
                <a:lnTo>
                  <a:pt x="228600" y="4966793"/>
                </a:lnTo>
                <a:cubicBezTo>
                  <a:pt x="102348" y="4966793"/>
                  <a:pt x="0" y="4864445"/>
                  <a:pt x="0" y="4738193"/>
                </a:cubicBez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5194534" y="0"/>
                </a:lnTo>
                <a:cubicBezTo>
                  <a:pt x="5320787" y="0"/>
                  <a:pt x="5423134" y="102347"/>
                  <a:pt x="5423134" y="228600"/>
                </a:cubicBezTo>
                <a:lnTo>
                  <a:pt x="5423134" y="410359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697064" y="4413490"/>
            <a:ext cx="4654266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Equipo local con GPU NVIDIA de 8 GB, 16 GB de RAM, Python 3.11. Validación cruzada de 5 pliegues por participante.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87237" y="3697754"/>
            <a:ext cx="307392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Entorno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DAHYnO2Ho-0</dc:identifier>
  <dcterms:modified xsi:type="dcterms:W3CDTF">2011-08-01T06:04:30Z</dcterms:modified>
  <cp:revision>1</cp:revision>
  <dc:title>Blue White Geometric Minimalist Thesis Defense Presentation</dc:title>
</cp:coreProperties>
</file>